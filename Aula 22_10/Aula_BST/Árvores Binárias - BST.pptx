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la" id="{F7E24C4C-9B80-5593-02E6-833054549A9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07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árvore só (40, 20, 60, 10, 30, 50, 70) acompanha a aula inteira. A prática usa outra árvore (50, 30, 70, 20, 40, 60, 80) para os alunos aplicarem sozinhos.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Pergunte: quem é pai do 30? (20). Quem são as folhas? (10, 30, 50, 70). Quantos filhos o 20 tem? (2).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Resposta: 2 (40 → 60 → 50). Convenção: contamos as linhas (arestas), não as bolinhas.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Chame os cartões nesta ordem: 40, 20, 60, 10, 30, 50, 70. Cada aluno compara com a raiz: menor vai para a esquerda, maior para a direita, até achar um lugar vazio. Antes do 30 entrar, pergunte à turma onde ele vai parar (direita do 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Faça o 35 entrar na árvore humana. Pergunte: buscar o 50 passa por quem? (40, 60, 50: 3 comparações). E buscar o 55? (40, 60, 50, vazio: não está). Sobre desempenho, basta a ideia: o custo depende da altura. No caso médio é rápido (O(log n)); se os dados chegarem em ordem, a árvore vira uma fila (O(n)).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Respostas: raiz 50; 30 e 70 abaixo; 20 e 40 sob o 30; 60 e 80 sob o 70. Folhas: 20, 40, 60, 80. Altura: 2. Circule pela sala; quem erra costuma comparar só com o último valor inserido em vez de começar pela raiz.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Faça a pré-ordem junto com a turma, apontando nó por nó. Depois peça que a turma diga a em-ordem sozinha antes de revelar. A pós-ordem é a que mais confunde: a raiz é sempre a última.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Faça cada remoção com a árvore humana: o aluno sai da sala e a turma decide quem ocupa o lugar. Caso 3: quem pode ficar no lugar do 40 sem quebrar a regra? Alguém maior que todos da esquerda e menor que todos da direita: o menor da direita, o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a 30 min de prática. O programa mostra OK nas quatro buscas quando a função está certa. Respostas do fechamento: 45 entra à esquerda do 50 (40 → 60 → 50); em-ordem; o menor valor da subárvore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67665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931920"/>
            <a:ext cx="6583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Árvores binárias e BST · 6.1 e 6.2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Árvores binárias e BST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Organizar, buscar, percorrer e remover, do jeito mais simples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8037576" y="3191256"/>
            <a:ext cx="566928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604504" y="3191256"/>
            <a:ext cx="566928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H="1">
            <a:off x="8604504" y="2276856"/>
            <a:ext cx="1133856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738360" y="2276856"/>
            <a:ext cx="1133856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 flipH="1">
            <a:off x="10305288" y="3191256"/>
            <a:ext cx="566928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72216" y="3191256"/>
            <a:ext cx="566928" cy="9144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0" y="38404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9328" y="29260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06256" y="38404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73184" y="2011680"/>
            <a:ext cx="530352" cy="530352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40112" y="38404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07040" y="29260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3968" y="3840480"/>
            <a:ext cx="530352" cy="530352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1. O que é uma árvore?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H="1">
            <a:off x="11430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flipH="1">
            <a:off x="1828800" y="1965960"/>
            <a:ext cx="13716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0" y="1965960"/>
            <a:ext cx="13716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H="1">
            <a:off x="38862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374904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1645920"/>
            <a:ext cx="640080" cy="640080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269748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raiz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(sem filhos)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035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537960" y="1572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do topo: 40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2514600"/>
            <a:ext cx="53035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537960" y="26243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e filho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 60 são filhos do 40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53035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37960" y="3675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sem filhos: 10, 30, 50, 70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53035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537960" y="47274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tem no máximo 2 filhos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5486400" cy="457200"/>
          </a:xfrm>
          <a:prstGeom prst="roundRect">
            <a:avLst>
              <a:gd name="adj" fmla="val 44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numa árvore genealógica de cabeça para baixo.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2. Altura e profundidade: conte as linhas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965960"/>
            <a:ext cx="50292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457200" y="1810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0292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28620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4069080"/>
            <a:ext cx="50292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" y="3913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233172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01752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3017520" y="1965960"/>
            <a:ext cx="13716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137160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 flipH="1">
            <a:off x="5074920" y="3017520"/>
            <a:ext cx="68580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76072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01168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97480" y="269748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69080" y="164592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0680" y="2697480"/>
            <a:ext cx="640080" cy="64008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0" y="1645920"/>
            <a:ext cx="4297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543800" y="1755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de um nó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linhas da raiz até ele (a raiz tem 0)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0" y="2788920"/>
            <a:ext cx="42976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7543800" y="2898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da árvore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profundidade da folha mais funda. Aqui: 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6400800" cy="457200"/>
          </a:xfrm>
          <a:prstGeom prst="roundRect">
            <a:avLst>
              <a:gd name="adj" fmla="val 44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profundidade do 50? Siga as linhas laranja.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3. A regra da BST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→ esquerda      Maior → direita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>
            <a:off x="1106424" y="3758184"/>
            <a:ext cx="64008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746504" y="3758184"/>
            <a:ext cx="64008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746504" y="2843784"/>
            <a:ext cx="128016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026664" y="2843784"/>
            <a:ext cx="128016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flipH="1">
            <a:off x="3666744" y="3758184"/>
            <a:ext cx="64008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06824" y="3758184"/>
            <a:ext cx="640080" cy="9144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43891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4747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566928" cy="56692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que 40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que 40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560320"/>
            <a:ext cx="53035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5836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ÁRVORE HUMANA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108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alunos recebem os cartões e entram um por vez, começando sempre pela raiz: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94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410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268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126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698480" y="39319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repetido não entra na árvore.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4. Inserir e buscar: compare e desça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H="1">
            <a:off x="1115568" y="2807208"/>
            <a:ext cx="640080" cy="9601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755648" y="2807208"/>
            <a:ext cx="640080" cy="96012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395728" y="3767328"/>
            <a:ext cx="640080" cy="96012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755648" y="1847088"/>
            <a:ext cx="1920240" cy="96012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75888" y="1847088"/>
            <a:ext cx="1280160" cy="9601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flipH="1">
            <a:off x="4315968" y="2807208"/>
            <a:ext cx="640080" cy="9601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56048" y="2807208"/>
            <a:ext cx="640080" cy="9601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585216" cy="58521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585216" cy="585216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474720"/>
            <a:ext cx="585216" cy="585216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4434840"/>
            <a:ext cx="585216" cy="585216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585216" cy="585216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474720"/>
            <a:ext cx="585216" cy="58521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585216" cy="58521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3474720"/>
            <a:ext cx="585216" cy="58521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487168" y="5074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o 35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984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&lt; 40 → esquerda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6243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&gt; 20 → direita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2644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&gt; 30 → direita está vazia: entra aqui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0" y="3977640"/>
            <a:ext cx="52120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6629400" y="41148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é o mesmo caminho.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 o valor → está na árvore. Chegou num lugar vazio → não está.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457200"/>
          </a:xfrm>
          <a:prstGeom prst="roundRect">
            <a:avLst>
              <a:gd name="adj" fmla="val 44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baixa = poucas comparações. Dados em ordem (10, 20, 30…) viram uma fila e ficam lentos.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5. Prática orientada: monte a sua árvore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nesta ordem, numa árvore vazia: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5468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60720" y="1874520"/>
            <a:ext cx="62179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443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 o primeiro: vira a raiz. 30 &lt; 50: vai para a esquerda.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30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Sozinho: 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com 70, 20, 40, 60, 80. Sempre comece pela raiz.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159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dupla: 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o colega. Diferente? Refaçam valor por valor.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01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Responda: 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raiz? Quais as folhas? Qual a altura?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5661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832104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prática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6. Percursos: três jeitos de visitar a árvore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H="1">
            <a:off x="11430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flipH="1">
            <a:off x="1828800" y="1965960"/>
            <a:ext cx="13716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0" y="1965960"/>
            <a:ext cx="13716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H="1">
            <a:off x="38862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0" y="3017520"/>
            <a:ext cx="685800" cy="10515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164592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269748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640080" cy="64008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3035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537960" y="1490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   </a:t>
            </a: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→ esquerda → direita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40 20 10 30 60 50 70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53035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537960" y="2770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EM-ORDEM   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→ nó → direita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10 20 30 40 50 60 70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3035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37960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PÓS-ORDEM   </a:t>
            </a: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→ direita → nó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10 30 20 50 70 60 40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64240" cy="457200"/>
          </a:xfrm>
          <a:prstGeom prst="roundRect">
            <a:avLst>
              <a:gd name="adj" fmla="val 44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a em-ordem de uma BST sempre sai em ordem crescente.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7. Remover: três casos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 partir da árvore do slide 4 (com o 35).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 · folha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remover(10): só tirar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600200" y="4370832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 flipH="1">
            <a:off x="1234440" y="3236976"/>
            <a:ext cx="109728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331720" y="3236976"/>
            <a:ext cx="73152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269748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06324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6070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2646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92224" y="4764024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57984" y="3063240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2374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950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5526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 · um filho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2240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remover(30): o filho (35) sobe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 flipH="1">
            <a:off x="498348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34924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 flipH="1">
            <a:off x="5349240" y="3236976"/>
            <a:ext cx="73152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080760" y="3236976"/>
            <a:ext cx="73152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 flipH="1">
            <a:off x="644652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81228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0974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41264" y="4197096"/>
            <a:ext cx="347472" cy="347472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07024" y="3063240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3854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0430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 · dois filhos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2240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remover(40): o menor da direita (50) toma o lugar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 flipH="1">
            <a:off x="873252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909828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9464040" y="4370832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 flipH="1">
            <a:off x="9098280" y="3236976"/>
            <a:ext cx="109728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0195560" y="3236976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0561320" y="3803904"/>
            <a:ext cx="365760" cy="5669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55878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2454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29030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56064" y="4764024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21824" y="3063240"/>
            <a:ext cx="347472" cy="347472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387584" y="3630168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753344" y="4197096"/>
            <a:ext cx="347472" cy="347472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5623560"/>
            <a:ext cx="11064240" cy="457200"/>
          </a:xfrm>
          <a:prstGeom prst="roundRect">
            <a:avLst>
              <a:gd name="adj" fmla="val 44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quem mudou de lugar. Depois de remover, a regra menor/maior continua valendo.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8. Prática orientada: papel e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18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papel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pré, em e pós-ordem da sua árvore do Exercício 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583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06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papel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o 20, depois o 30, depois o 50. Desenhe depois de cada um.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58368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3904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749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computador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pratica_bst.py, complete a função buscar e execute. Confira com o que você fez no papel.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65836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52400" tIns="177800" rIns="177800" bIns="1524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pratica_bst.py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411480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7724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FECHAR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 árvore do slide 1, onde entra o 45?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 percurso sai em ordem crescente?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114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Quem substitui um nó com dois filhos?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vores BST">
  <a:themeElements>
    <a:clrScheme name="Arvores BST">
      <a:dk1>
        <a:srgbClr val="1F2A26"/>
      </a:dk1>
      <a:lt1>
        <a:srgbClr val="FFFFFF"/>
      </a:lt1>
      <a:dk2>
        <a:srgbClr val="14302A"/>
      </a:dk2>
      <a:lt2>
        <a:srgbClr val="EEF3EF"/>
      </a:lt2>
      <a:accent1>
        <a:srgbClr val="E07A3A"/>
      </a:accent1>
      <a:accent2>
        <a:srgbClr val="2F6B4F"/>
      </a:accent2>
      <a:accent3>
        <a:srgbClr val="A8D5B5"/>
      </a:accent3>
      <a:accent4>
        <a:srgbClr val="B8541A"/>
      </a:accent4>
      <a:accent5>
        <a:srgbClr val="5B6B63"/>
      </a:accent5>
      <a:accent6>
        <a:srgbClr val="D5DFD8"/>
      </a:accent6>
      <a:hlink>
        <a:srgbClr val="2F6B4F"/>
      </a:hlink>
      <a:folHlink>
        <a:srgbClr val="5B6B63"/>
      </a:folHlink>
    </a:clrScheme>
    <a:fontScheme name="Arvores B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1184</Words>
  <Application>Microsoft Office PowerPoint</Application>
  <PresentationFormat>Widescreen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Arvores BST</vt:lpstr>
      <vt:lpstr>Árvores binárias e BST</vt:lpstr>
      <vt:lpstr>1. O que é uma árvore?</vt:lpstr>
      <vt:lpstr>2. Altura e profundidade: conte as linhas</vt:lpstr>
      <vt:lpstr>3. A regra da BST</vt:lpstr>
      <vt:lpstr>4. Inserir e buscar: compare e desça</vt:lpstr>
      <vt:lpstr>5. Prática orientada: monte a sua árvore</vt:lpstr>
      <vt:lpstr>6. Percursos: três jeitos de visitar a árvore</vt:lpstr>
      <vt:lpstr>7. Remover: três casos</vt:lpstr>
      <vt:lpstr>8. Prática orientada: papel e Python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Binárias e BST</dc:title>
  <dc:subject>PptxGenJS Presentation</dc:subject>
  <dc:creator>Estruturas de Dados</dc:creator>
  <cp:lastModifiedBy>Owayran Torquato Fernandes</cp:lastModifiedBy>
  <cp:revision>2</cp:revision>
  <dcterms:created xsi:type="dcterms:W3CDTF">2026-10-22T20:01:29Z</dcterms:created>
  <dcterms:modified xsi:type="dcterms:W3CDTF">2026-10-22T20:55:28Z</dcterms:modified>
</cp:coreProperties>
</file>